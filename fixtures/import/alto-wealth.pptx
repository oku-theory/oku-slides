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496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WEALTH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096597" y="658465"/>
            <a:ext cx="2106603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 Strategy — Working Document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243443" y="624830"/>
            <a:ext cx="1135757" cy="236190"/>
          </a:xfrm>
          <a:prstGeom prst="roundRect">
            <a:avLst>
              <a:gd name="adj" fmla="val 10754"/>
            </a:avLst>
          </a:prstGeom>
          <a:solidFill>
            <a:srgbClr val="00BEF4"/>
          </a:solidFill>
          <a:ln/>
        </p:spPr>
      </p:sp>
      <p:sp>
        <p:nvSpPr>
          <p:cNvPr id="5" name="Text 3"/>
          <p:cNvSpPr/>
          <p:nvPr/>
        </p:nvSpPr>
        <p:spPr>
          <a:xfrm>
            <a:off x="10345043" y="662930"/>
            <a:ext cx="983357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spc="50" kern="0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12800" y="876300"/>
            <a:ext cx="10566400" cy="3810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370608"/>
            <a:ext cx="12192000" cy="5487392"/>
          </a:xfrm>
          <a:prstGeom prst="rect">
            <a:avLst/>
          </a:prstGeom>
          <a:solidFill>
            <a:srgbClr val="00154E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1980208"/>
            <a:ext cx="558800" cy="3810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196108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SURVIVAL QUESTION TO A GENERATIONAL OPPORTUNITY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12800" y="2542778"/>
            <a:ext cx="10883392" cy="141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Is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Front Door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12800" y="410735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5" kern="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Software Vendor to Wealth 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498479"/>
            <a:ext cx="817562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the conversational agent becomes the end client's only interface, our relationship with them is at risk — and that same shift is our chance to become the infrastructure that powers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5529659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7C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to Customer · Internal strategic reflection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2800" y="5876330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7C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Matthieu Dartiguenave · September 20,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CONVICTION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812800" y="994370"/>
            <a:ext cx="406400" cy="3175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140420"/>
            <a:ext cx="9810750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spc="-50" kern="0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becomes the only interface — and, soon, the more trusted confidant.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00" y="2237680"/>
            <a:ext cx="3522117" cy="360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250380"/>
            <a:ext cx="3522117" cy="0"/>
          </a:xfrm>
          <a:prstGeom prst="line">
            <a:avLst/>
          </a:prstGeom>
          <a:noFill/>
          <a:ln w="25400">
            <a:solidFill>
              <a:srgbClr val="00B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491680"/>
            <a:ext cx="320918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window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6000" y="2791371"/>
            <a:ext cx="3209188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becomes the single window through which clients see all their content, and the only channel of communication. Applications, in the traditional sense, disappear.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917" y="2237680"/>
            <a:ext cx="3522166" cy="360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34917" y="2250380"/>
            <a:ext cx="3522166" cy="0"/>
          </a:xfrm>
          <a:prstGeom prst="line">
            <a:avLst/>
          </a:prstGeom>
          <a:noFill/>
          <a:ln w="25400">
            <a:solidFill>
              <a:srgbClr val="00B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8117" y="2491680"/>
            <a:ext cx="320923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deeper confidant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38117" y="2791371"/>
            <a:ext cx="3209239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will confide in a Claude or a ChatGPT more easily than in a private banker. An AI soon holds a more intimate, continuous knowledge of a client's situation than any human relationship can sustain over 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57083" y="2237680"/>
            <a:ext cx="3522117" cy="3604320"/>
          </a:xfrm>
          <a:prstGeom prst="rect">
            <a:avLst/>
          </a:prstGeom>
          <a:solidFill>
            <a:srgbClr val="00154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7083" y="2250380"/>
            <a:ext cx="3522117" cy="0"/>
          </a:xfrm>
          <a:prstGeom prst="line">
            <a:avLst/>
          </a:prstGeom>
          <a:noFill/>
          <a:ln w="25400">
            <a:solidFill>
              <a:srgbClr val="00B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0283" y="2491680"/>
            <a:ext cx="3209188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Attacked on two fronts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60283" y="2791371"/>
            <a:ext cx="3209188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private banker's role is challenged on the </a:t>
            </a:r>
            <a:r>
              <a:rPr lang="en-US" sz="105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</a:t>
            </a:r>
            <a:r>
              <a:rPr lang="en-US" sz="10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agent owns the channel and knows the client best — and on </a:t>
            </a:r>
            <a:r>
              <a:rPr lang="en-US" sz="105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competence</a:t>
            </a:r>
            <a:r>
              <a:rPr lang="en-US" sz="10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an AI's financial knowledge and analytical depth already outclass any individual advisor.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2800" y="6318250"/>
            <a:ext cx="342405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1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Wealth Bank as an API · September 20, 2026 · Matthieu Dartiguenave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588918" y="6282730"/>
            <a:ext cx="1014164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spc="5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50" dirty="0"/>
          </a:p>
        </p:txBody>
      </p:sp>
      <p:pic>
        <p:nvPicPr>
          <p:cNvPr id="19" name="Image 0" descr="Amundi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10463907" y="6146800"/>
            <a:ext cx="915293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5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812800" y="994370"/>
            <a:ext cx="406400" cy="3175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1404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selling software to a connected bank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663650"/>
            <a:ext cx="91567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client is disappearing — and with it, the model built to sell them software.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191941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7C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— B2B2C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2800" y="2501801"/>
            <a:ext cx="3115717" cy="857200"/>
          </a:xfrm>
          <a:prstGeom prst="roundRect">
            <a:avLst>
              <a:gd name="adj" fmla="val 5926"/>
            </a:avLst>
          </a:prstGeom>
          <a:solidFill>
            <a:srgbClr val="0A2A6E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" y="2730401"/>
            <a:ext cx="279059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Wealth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5360" y="2961531"/>
            <a:ext cx="2790596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FA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vendor</a:t>
            </a:r>
            <a:endParaRPr lang="en-US" sz="95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80917" y="2860526"/>
            <a:ext cx="304800" cy="1397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38117" y="2501801"/>
            <a:ext cx="3115766" cy="857200"/>
          </a:xfrm>
          <a:prstGeom prst="roundRect">
            <a:avLst>
              <a:gd name="adj" fmla="val 5926"/>
            </a:avLst>
          </a:prstGeom>
          <a:solidFill>
            <a:srgbClr val="0A2A6E"/>
          </a:solidFill>
          <a:ln/>
        </p:spPr>
      </p:sp>
      <p:sp>
        <p:nvSpPr>
          <p:cNvPr id="12" name="Text 9"/>
          <p:cNvSpPr/>
          <p:nvPr/>
        </p:nvSpPr>
        <p:spPr>
          <a:xfrm>
            <a:off x="4700676" y="2730401"/>
            <a:ext cx="279064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banker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00676" y="2961531"/>
            <a:ext cx="2790647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FA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equipped with the software</a:t>
            </a:r>
            <a:endParaRPr lang="en-US" sz="9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06283" y="2860526"/>
            <a:ext cx="304800" cy="1397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263483" y="2501801"/>
            <a:ext cx="3115717" cy="857200"/>
          </a:xfrm>
          <a:prstGeom prst="roundRect">
            <a:avLst>
              <a:gd name="adj" fmla="val 5926"/>
            </a:avLst>
          </a:prstGeom>
          <a:solidFill>
            <a:srgbClr val="0A2A6E"/>
          </a:solidFill>
          <a:ln/>
        </p:spPr>
      </p:sp>
      <p:sp>
        <p:nvSpPr>
          <p:cNvPr id="16" name="Text 12"/>
          <p:cNvSpPr/>
          <p:nvPr/>
        </p:nvSpPr>
        <p:spPr>
          <a:xfrm>
            <a:off x="8426043" y="2730401"/>
            <a:ext cx="279059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client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426043" y="2961531"/>
            <a:ext cx="2790596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FA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the service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12800" y="3638401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Tomorrow — Agentic D2C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9150" y="3954611"/>
            <a:ext cx="3111500" cy="869900"/>
          </a:xfrm>
          <a:prstGeom prst="roundRect">
            <a:avLst>
              <a:gd name="adj" fmla="val 5110"/>
            </a:avLst>
          </a:prstGeom>
          <a:solidFill>
            <a:srgbClr val="0A2A6E"/>
          </a:solidFill>
          <a:ln w="12700">
            <a:solidFill>
              <a:srgbClr val="00BEF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8314" y="4189561"/>
            <a:ext cx="277317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client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88314" y="4420691"/>
            <a:ext cx="277317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their AI agent</a:t>
            </a:r>
            <a:endParaRPr lang="en-US" sz="950" dirty="0"/>
          </a:p>
        </p:txBody>
      </p:sp>
      <p:pic>
        <p:nvPicPr>
          <p:cNvPr id="2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89400" y="4319687"/>
            <a:ext cx="304800" cy="1397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552950" y="3954611"/>
            <a:ext cx="3111500" cy="869900"/>
          </a:xfrm>
          <a:prstGeom prst="roundRect">
            <a:avLst>
              <a:gd name="adj" fmla="val 5110"/>
            </a:avLst>
          </a:prstGeom>
          <a:solidFill>
            <a:srgbClr val="0A2A6E"/>
          </a:solidFill>
          <a:ln w="12700">
            <a:solidFill>
              <a:srgbClr val="00BEF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22114" y="4189561"/>
            <a:ext cx="277317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· ChatGPT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22114" y="4420691"/>
            <a:ext cx="277317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interface</a:t>
            </a:r>
            <a:endParaRPr lang="en-US" sz="950" dirty="0"/>
          </a:p>
        </p:txBody>
      </p:sp>
      <p:pic>
        <p:nvPicPr>
          <p:cNvPr id="26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23200" y="4319687"/>
            <a:ext cx="304800" cy="1397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280400" y="3960961"/>
            <a:ext cx="3098800" cy="857200"/>
          </a:xfrm>
          <a:prstGeom prst="roundRect">
            <a:avLst>
              <a:gd name="adj" fmla="val 5926"/>
            </a:avLst>
          </a:prstGeom>
          <a:solidFill>
            <a:srgbClr val="00BEF4"/>
          </a:solidFill>
          <a:ln/>
        </p:spPr>
      </p:sp>
      <p:sp>
        <p:nvSpPr>
          <p:cNvPr id="28" name="Text 22"/>
          <p:cNvSpPr/>
          <p:nvPr/>
        </p:nvSpPr>
        <p:spPr>
          <a:xfrm>
            <a:off x="8443214" y="4189561"/>
            <a:ext cx="277317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Wealth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443214" y="4420691"/>
            <a:ext cx="277317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00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Bank as an API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12800" y="5110262"/>
            <a:ext cx="98107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private banker is no longer a mandatory gateway to the digital channel: Alto Wealth becomes the infrastructure layer that feeds the conversation directly, whichever agent the client uses.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12800" y="6318250"/>
            <a:ext cx="344398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10" kern="0" dirty="0">
                <a:solidFill>
                  <a:srgbClr val="7C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Wealth Bank as an API · September 20, 2026 · Matthieu Dartiguenave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5588918" y="6282730"/>
            <a:ext cx="1014164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spc="50" kern="0" dirty="0">
                <a:solidFill>
                  <a:srgbClr val="7C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50" dirty="0"/>
          </a:p>
        </p:txBody>
      </p:sp>
      <p:pic>
        <p:nvPicPr>
          <p:cNvPr id="33" name="Image 4" descr="Amundi">    </p:cNvPr>
          <p:cNvPicPr>
            <a:picLocks noChangeAspect="1"/>
          </p:cNvPicPr>
          <p:nvPr/>
        </p:nvPicPr>
        <p:blipFill>
          <a:blip r:embed="rId5"/>
          <a:srcRect l="1" r="1" t="0" b="0"/>
          <a:stretch/>
        </p:blipFill>
        <p:spPr>
          <a:xfrm>
            <a:off x="10463907" y="6146800"/>
            <a:ext cx="915293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MOAT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812800" y="994370"/>
            <a:ext cx="406400" cy="3175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140420"/>
            <a:ext cx="981075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spc="-50" kern="0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moat isn't the code. It's the ecosystem behind 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828750"/>
            <a:ext cx="98107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is a commodity: it can be copied, outsourced, or rebuilt by any competitor with enough capital. It buys no defensibility. What cannot be copied overnight is regulatory depth, operational service, and a connected ecosystem — the real barriers to entry in an agentic world.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15975" y="2537966"/>
            <a:ext cx="3414167" cy="2183259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769741"/>
            <a:ext cx="3091459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 — PRODUCT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2350" y="3040211"/>
            <a:ext cx="309145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Amundi Funds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2350" y="3339902"/>
            <a:ext cx="3091459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products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2350" y="3610372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manufacturing capability across asset classes that a pure tech entrant cannot license or fake.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8892" y="2537966"/>
            <a:ext cx="3414216" cy="2183259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5267" y="2769741"/>
            <a:ext cx="3091510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 — INFRASTRUCTURE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95267" y="3040211"/>
            <a:ext cx="309151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Wealth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5267" y="3339902"/>
            <a:ext cx="3091510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platform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5267" y="3610372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layer that turns the other two pillars into something an agent can actually reach and act 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61858" y="2537966"/>
            <a:ext cx="3414167" cy="2183259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8233" y="2769741"/>
            <a:ext cx="3091459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 — SERVICE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68233" y="3040211"/>
            <a:ext cx="309145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Amundi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68233" y="3339902"/>
            <a:ext cx="3091459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office, corporate actions, trading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68233" y="3610372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depth built over years — the part of the stack no startup can spin up in a product cycle.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2800" y="5003800"/>
            <a:ext cx="10566400" cy="838200"/>
          </a:xfrm>
          <a:prstGeom prst="roundRect">
            <a:avLst>
              <a:gd name="adj" fmla="val 6061"/>
            </a:avLst>
          </a:prstGeom>
          <a:solidFill>
            <a:srgbClr val="00154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5232400"/>
            <a:ext cx="50800" cy="381000"/>
          </a:xfrm>
          <a:prstGeom prst="roundRect">
            <a:avLst>
              <a:gd name="adj" fmla="val 25000"/>
            </a:avLst>
          </a:prstGeom>
          <a:solidFill>
            <a:srgbClr val="00BEF4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5316240"/>
            <a:ext cx="7775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competitor can copy our interface in a quarter. It cannot rebuild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ecosystem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less than a decade.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318250"/>
            <a:ext cx="344474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1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Wealth Bank as an API · September 20, 2026 · Matthieu Dartiguenave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88918" y="6282730"/>
            <a:ext cx="1014164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spc="5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50" dirty="0"/>
          </a:p>
        </p:txBody>
      </p:sp>
      <p:pic>
        <p:nvPicPr>
          <p:cNvPr id="26" name="Image 0" descr="Amundi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10463907" y="6146800"/>
            <a:ext cx="915293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RESPONSE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812800" y="994370"/>
            <a:ext cx="406400" cy="3175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140420"/>
            <a:ext cx="981075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spc="-50" kern="0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 the ecosystem, not just the software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828750"/>
            <a:ext cx="98107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and AG-UI are how the three pillars — product, infrastructure, service — become something an agent can actually call and use, instead of features locked inside an application.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15975" y="2537966"/>
            <a:ext cx="5200650" cy="2137618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769741"/>
            <a:ext cx="4931537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BLOCK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2350" y="3040211"/>
            <a:ext cx="493153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2350" y="3339902"/>
            <a:ext cx="4931537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2350" y="3610372"/>
            <a:ext cx="493153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expose the full ecosystem as tools any agent can call — Amundi Funds' products, Alto Wealth's infrastructure, Amundi's service layer — in a secure, standardized way.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5375" y="2537966"/>
            <a:ext cx="5200650" cy="2137618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0" y="2769741"/>
            <a:ext cx="4931537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BLOCK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81750" y="3040211"/>
            <a:ext cx="493153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AG-UI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1750" y="3339902"/>
            <a:ext cx="4931537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Agent-User Interaction Protocol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81750" y="3610372"/>
            <a:ext cx="493153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deliver a rich, generative interface directly inside the conversation — charts, forms, tables — for a personalized experience, not plain text.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800" y="4958159"/>
            <a:ext cx="10566400" cy="883841"/>
          </a:xfrm>
          <a:prstGeom prst="roundRect">
            <a:avLst>
              <a:gd name="adj" fmla="val 5748"/>
            </a:avLst>
          </a:prstGeom>
          <a:solidFill>
            <a:srgbClr val="00154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5209580"/>
            <a:ext cx="50800" cy="381000"/>
          </a:xfrm>
          <a:prstGeom prst="roundRect">
            <a:avLst>
              <a:gd name="adj" fmla="val 25000"/>
            </a:avLst>
          </a:prstGeom>
          <a:solidFill>
            <a:srgbClr val="00BEF4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5186759"/>
            <a:ext cx="102555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the agent doesn't just call software — it draws on Amundi Funds, Alto Wealth, and Amundi Services as one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Bank as an API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318250"/>
            <a:ext cx="344750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1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Wealth Bank as an API · September 20, 2026 · Matthieu Dartiguenave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88918" y="6282730"/>
            <a:ext cx="1014164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spc="5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50" dirty="0"/>
          </a:p>
        </p:txBody>
      </p:sp>
      <p:pic>
        <p:nvPicPr>
          <p:cNvPr id="21" name="Image 0" descr="Amundi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10463907" y="6146800"/>
            <a:ext cx="915293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US, NOT JUST ANY MCP SERVER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812800" y="994370"/>
            <a:ext cx="406400" cy="3175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140420"/>
            <a:ext cx="981075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spc="-50" kern="0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financial coach for someone's entire life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828750"/>
            <a:ext cx="98107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agent can call a fund list. Our differentiators are what turn a single transaction into a relationship an agent keeps coming back to for decades — the real source of stickiness.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15975" y="2537966"/>
            <a:ext cx="3414167" cy="2183259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769741"/>
            <a:ext cx="3091459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DIFFERENTIATOR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2350" y="3040211"/>
            <a:ext cx="3091459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lifelong financial planner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2350" y="3339902"/>
            <a:ext cx="3091459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one-off recommendation, but a planning capability that maps a client's entire financial life — income, projects, family, retirement — so the agent can advise at every stage, not just at the point of sale.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8892" y="2537966"/>
            <a:ext cx="3414216" cy="2183259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5267" y="2769741"/>
            <a:ext cx="3091510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DIFFERENTIATOR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95267" y="3040211"/>
            <a:ext cx="309151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no one else offers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5267" y="3339902"/>
            <a:ext cx="309151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Innovative solutions absent elsewhere in the market — such as </a:t>
            </a:r>
            <a:r>
              <a:rPr lang="en-US" sz="105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guarantees</a:t>
            </a:r>
            <a:r>
              <a:rPr lang="en-US" sz="10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give the agent something genuinely differentiated to recommend, not a commodity fund any competitor's API can also expose.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61858" y="2537966"/>
            <a:ext cx="3414167" cy="2183259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8233" y="2769741"/>
            <a:ext cx="3091459" cy="18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2"/>
              </a:lnSpc>
              <a:buNone/>
            </a:pPr>
            <a:r>
              <a:rPr lang="en-US" sz="873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DIFFERENTIATOR 3</a:t>
            </a:r>
            <a:endParaRPr lang="en-US" sz="873" dirty="0"/>
          </a:p>
        </p:txBody>
      </p:sp>
      <p:sp>
        <p:nvSpPr>
          <p:cNvPr id="16" name="Text 14"/>
          <p:cNvSpPr/>
          <p:nvPr/>
        </p:nvSpPr>
        <p:spPr>
          <a:xfrm>
            <a:off x="8168233" y="3026866"/>
            <a:ext cx="3091459" cy="20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227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 for every life stage</a:t>
            </a:r>
            <a:endParaRPr lang="en-US" sz="1227" dirty="0"/>
          </a:p>
        </p:txBody>
      </p:sp>
      <p:sp>
        <p:nvSpPr>
          <p:cNvPr id="17" name="Text 15"/>
          <p:cNvSpPr/>
          <p:nvPr/>
        </p:nvSpPr>
        <p:spPr>
          <a:xfrm>
            <a:off x="8168233" y="3310830"/>
            <a:ext cx="3091459" cy="1204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8"/>
              </a:lnSpc>
              <a:buNone/>
            </a:pPr>
            <a:r>
              <a:rPr lang="en-US" sz="1024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Amundi's manufacturing breadth means the agent can always match the right product to where the client actually is — first savings, home purchase, children, retirement — rather than a single generic offer stretched across a lifetime.</a:t>
            </a:r>
            <a:endParaRPr lang="en-US" sz="1024" dirty="0"/>
          </a:p>
        </p:txBody>
      </p:sp>
      <p:sp>
        <p:nvSpPr>
          <p:cNvPr id="18" name="Shape 16"/>
          <p:cNvSpPr/>
          <p:nvPr/>
        </p:nvSpPr>
        <p:spPr>
          <a:xfrm>
            <a:off x="812800" y="5003800"/>
            <a:ext cx="10566400" cy="838200"/>
          </a:xfrm>
          <a:prstGeom prst="roundRect">
            <a:avLst>
              <a:gd name="adj" fmla="val 6061"/>
            </a:avLst>
          </a:prstGeom>
          <a:solidFill>
            <a:srgbClr val="00154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5232400"/>
            <a:ext cx="50800" cy="381000"/>
          </a:xfrm>
          <a:prstGeom prst="roundRect">
            <a:avLst>
              <a:gd name="adj" fmla="val 25000"/>
            </a:avLst>
          </a:prstGeom>
          <a:solidFill>
            <a:srgbClr val="00BEF4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5316240"/>
            <a:ext cx="93653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planner and the products create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stickiness for the duration of a client's life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just for the duration of a conversation.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318250"/>
            <a:ext cx="344234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1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Wealth Bank as an API · September 20, 2026 · Matthieu Dartiguenave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88918" y="6282730"/>
            <a:ext cx="1014164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spc="5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50" dirty="0"/>
          </a:p>
        </p:txBody>
      </p:sp>
      <p:pic>
        <p:nvPicPr>
          <p:cNvPr id="23" name="Image 0" descr="Amundi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10463907" y="6146800"/>
            <a:ext cx="915293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5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812800" y="994370"/>
            <a:ext cx="406400" cy="3175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1404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mover, standard setter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00" y="1828750"/>
            <a:ext cx="3524250" cy="2850009"/>
          </a:xfrm>
          <a:prstGeom prst="roundRect">
            <a:avLst>
              <a:gd name="adj" fmla="val 1782"/>
            </a:avLst>
          </a:prstGeom>
          <a:solidFill>
            <a:srgbClr val="0A2A6E"/>
          </a:solidFill>
          <a:ln/>
        </p:spPr>
      </p:sp>
      <p:sp>
        <p:nvSpPr>
          <p:cNvPr id="6" name="Shape 4"/>
          <p:cNvSpPr/>
          <p:nvPr/>
        </p:nvSpPr>
        <p:spPr>
          <a:xfrm>
            <a:off x="4333875" y="1828750"/>
            <a:ext cx="0" cy="2850009"/>
          </a:xfrm>
          <a:prstGeom prst="line">
            <a:avLst/>
          </a:prstGeom>
          <a:noFill/>
          <a:ln w="6350">
            <a:solidFill>
              <a:srgbClr val="0015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057350"/>
            <a:ext cx="3204845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· SHORT TERM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16000" y="2327821"/>
            <a:ext cx="32048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every agent marketplace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6000" y="2627511"/>
            <a:ext cx="3204845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read-only simulators — savings allocation, retirement projection — directly into the marketplaces of every major agent, not as an API embedded in our own bank websites.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7050" y="1828750"/>
            <a:ext cx="3524250" cy="2850009"/>
          </a:xfrm>
          <a:prstGeom prst="rect">
            <a:avLst/>
          </a:prstGeom>
          <a:solidFill>
            <a:srgbClr val="0A2A6E"/>
          </a:solidFill>
          <a:ln/>
        </p:spPr>
      </p:sp>
      <p:sp>
        <p:nvSpPr>
          <p:cNvPr id="11" name="Shape 9"/>
          <p:cNvSpPr/>
          <p:nvPr/>
        </p:nvSpPr>
        <p:spPr>
          <a:xfrm>
            <a:off x="7858125" y="1828750"/>
            <a:ext cx="0" cy="2850009"/>
          </a:xfrm>
          <a:prstGeom prst="line">
            <a:avLst/>
          </a:prstGeom>
          <a:noFill/>
          <a:ln w="6350">
            <a:solidFill>
              <a:srgbClr val="0015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0250" y="2057350"/>
            <a:ext cx="3204845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· MEDIUM TERM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40250" y="2327821"/>
            <a:ext cx="32048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 from the marketplace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0250" y="2627511"/>
            <a:ext cx="3204845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simulator into a transaction: agent-to-agent onboarding — KYC, account and contract opening resolved instantly from what the user's agent already knows about them, no forms, no friction — then subscriptions and arbitrages via AG-UI. A full acquisition channel, not just a service for existing clients.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1300" y="1828750"/>
            <a:ext cx="3517900" cy="2850009"/>
          </a:xfrm>
          <a:prstGeom prst="roundRect">
            <a:avLst>
              <a:gd name="adj" fmla="val 1782"/>
            </a:avLst>
          </a:prstGeom>
          <a:solidFill>
            <a:srgbClr val="00BE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64500" y="2057350"/>
            <a:ext cx="3204845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0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· LONG TERM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64500" y="2327821"/>
            <a:ext cx="32048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the default choice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64500" y="2627511"/>
            <a:ext cx="3204845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0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surface our services on their own — "I see you're holding cash," "you asked about this, here's an option" — turning every agent into an acquisition channel and making us the wealth manager recommended by default across every marketplace, reaching far beyond our historical client base.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800" y="4958159"/>
            <a:ext cx="10566400" cy="883841"/>
          </a:xfrm>
          <a:prstGeom prst="roundRect">
            <a:avLst>
              <a:gd name="adj" fmla="val 5748"/>
            </a:avLst>
          </a:prstGeom>
          <a:solidFill>
            <a:srgbClr val="00BEF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5209580"/>
            <a:ext cx="50800" cy="381000"/>
          </a:xfrm>
          <a:prstGeom prst="roundRect">
            <a:avLst>
              <a:gd name="adj" fmla="val 25000"/>
            </a:avLst>
          </a:prstGeom>
          <a:solidFill>
            <a:srgbClr val="00154E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5186759"/>
            <a:ext cx="102555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starts as a threat to the relationship ends as </a:t>
            </a:r>
            <a:r>
              <a:rPr lang="en-US" sz="12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biggest distribution opportunity in a decade</a:t>
            </a:r>
            <a:r>
              <a:rPr lang="en-US" sz="12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first mover today, the standard every agent builds on tomorrow.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318250"/>
            <a:ext cx="344495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10" kern="0" dirty="0">
                <a:solidFill>
                  <a:srgbClr val="7C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Wealth Bank as an API · September 20, 2026 · Matthieu Dartiguenave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88918" y="6282730"/>
            <a:ext cx="1014164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spc="50" kern="0" dirty="0">
                <a:solidFill>
                  <a:srgbClr val="7C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50" dirty="0"/>
          </a:p>
        </p:txBody>
      </p:sp>
      <p:pic>
        <p:nvPicPr>
          <p:cNvPr id="24" name="Image 0" descr="Amundi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10463907" y="6146800"/>
            <a:ext cx="915293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ANATOMY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12800" y="1003300"/>
            <a:ext cx="406400" cy="31750"/>
          </a:xfrm>
          <a:prstGeom prst="rect">
            <a:avLst/>
          </a:prstGeom>
          <a:solidFill>
            <a:srgbClr val="00BEF4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14935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wealth management value chain, front to back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5975" y="1840855"/>
            <a:ext cx="2524125" cy="399797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072630"/>
            <a:ext cx="2174716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22350" y="2325340"/>
            <a:ext cx="21747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 &amp; Distribution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9350" y="2625030"/>
            <a:ext cx="2043906" cy="117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&amp; relationship management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Multi-channel distribution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onboarding &amp; KYC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Wealth &amp; tax engineering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98850" y="1840855"/>
            <a:ext cx="2524125" cy="399797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5225" y="2072630"/>
            <a:ext cx="2174716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705225" y="2325340"/>
            <a:ext cx="21747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Investment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32225" y="2625030"/>
            <a:ext cx="2043906" cy="117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management &amp; mandates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products &amp; alternatives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Insurance-linked products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governance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725" y="1840855"/>
            <a:ext cx="2524125" cy="399797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8100" y="2072630"/>
            <a:ext cx="2174716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50" kern="0" dirty="0">
                <a:solidFill>
                  <a:srgbClr val="007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88100" y="2325340"/>
            <a:ext cx="21747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1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Custody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5100" y="2625030"/>
            <a:ext cx="2043906" cy="942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office (matching, NAV)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actions processing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Custody &amp; depositary control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3D47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Settlement &amp; reconciliation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1425" y="1837680"/>
            <a:ext cx="2517775" cy="4004320"/>
          </a:xfrm>
          <a:prstGeom prst="roundRect">
            <a:avLst>
              <a:gd name="adj" fmla="val 2018"/>
            </a:avLst>
          </a:prstGeom>
          <a:solidFill>
            <a:srgbClr val="00154E"/>
          </a:solidFill>
          <a:ln/>
        </p:spPr>
      </p:sp>
      <p:sp>
        <p:nvSpPr>
          <p:cNvPr id="18" name="Shape 16"/>
          <p:cNvSpPr/>
          <p:nvPr/>
        </p:nvSpPr>
        <p:spPr>
          <a:xfrm>
            <a:off x="8861425" y="1850380"/>
            <a:ext cx="2517775" cy="0"/>
          </a:xfrm>
          <a:prstGeom prst="line">
            <a:avLst/>
          </a:prstGeom>
          <a:noFill/>
          <a:ln w="25400">
            <a:solidFill>
              <a:srgbClr val="00B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4625" y="2091680"/>
            <a:ext cx="2174716" cy="176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50" kern="0" dirty="0">
                <a:solidFill>
                  <a:srgbClr val="00B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64625" y="2344390"/>
            <a:ext cx="21747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91625" y="2644080"/>
            <a:ext cx="2043906" cy="117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(market, credit, liquidity, model)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&amp; regulatory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Legal, tax &amp; actuarial</a:t>
            </a:r>
            <a:endParaRPr lang="en-US" sz="950" dirty="0"/>
          </a:p>
          <a:p>
            <a:pPr algn="l" marL="342900" indent="-342900">
              <a:lnSpc>
                <a:spcPts val="1805"/>
              </a:lnSpc>
              <a:buSzPct val="100000"/>
              <a:buChar char="•"/>
            </a:pPr>
            <a:r>
              <a:rPr lang="en-US" sz="950" dirty="0">
                <a:solidFill>
                  <a:srgbClr val="B9C4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Finance, data &amp; 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2800" y="6273800"/>
            <a:ext cx="12268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65577" y="6273800"/>
            <a:ext cx="106084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5B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00" dirty="0"/>
          </a:p>
        </p:txBody>
      </p:sp>
      <p:pic>
        <p:nvPicPr>
          <p:cNvPr id="24" name="Image 0" descr="Amundi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10463907" y="6146800"/>
            <a:ext cx="915293" cy="40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Alto Wealth — Wealth Bank as an API</dc:title>
  <dc:subject>PptxGenJS Presentation</dc:subject>
  <dc:creator>PptxGenJS</dc:creator>
  <cp:lastModifiedBy>PptxGenJS</cp:lastModifiedBy>
  <cp:revision>1</cp:revision>
  <dcterms:created xsi:type="dcterms:W3CDTF">2026-09-20T21:49:02Z</dcterms:created>
  <dcterms:modified xsi:type="dcterms:W3CDTF">2026-09-20T21:49:02Z</dcterms:modified>
</cp:coreProperties>
</file>