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800" b="1" u="none" strike="noStrike">
                <a:solidFill>
                  <a:srgbClr val="000000"/>
                </a:solidFill>
                <a:uFillTx/>
                <a:latin typeface="Calibri"/>
              </a:rPr>
              <a:t>Ventes</a:t>
            </a:r>
            <a:r>
              <a:rPr sz="1800" b="1" u="none" strike="noStrike">
                <a:solidFill>
                  <a:srgbClr val="000000"/>
                </a:solidFill>
                <a:uFillTx/>
                <a:latin typeface="Calibri"/>
              </a:rPr>
              <a:t> 2026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Nord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T1</c:v>
                </c:pt>
                <c:pt idx="1">
                  <c:v>T2</c:v>
                </c:pt>
                <c:pt idx="2">
                  <c:v>T3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10</c:v>
                </c:pt>
                <c:pt idx="2">
                  <c:v>12.5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Sud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T1</c:v>
                </c:pt>
                <c:pt idx="1">
                  <c:v>T2</c:v>
                </c:pt>
                <c:pt idx="2">
                  <c:v>T3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4</c:v>
                </c:pt>
                <c:pt idx="1">
                  <c:v>0</c:v>
                </c:pt>
                <c:pt idx="2">
                  <c:v>6</c:v>
                </c:pt>
              </c:numCache>
            </c:numRef>
          </c:val>
        </c:ser>
        <c:gapWidth val="150"/>
        <c:overlap val="100"/>
        <c:axId val="10254881"/>
        <c:axId val="48945826"/>
      </c:barChart>
      <c:catAx>
        <c:axId val="10254881"/>
        <c:scaling>
          <c:orientation val="minMax"/>
        </c:scaling>
        <c:delete val="1"/>
        <c:axPos val="b"/>
        <c:numFmt formatCode="[$-40C]dd/mm/yyyy" sourceLinked="1"/>
        <c:majorTickMark val="cross"/>
        <c:minorTickMark val="cross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8945826"/>
        <c:auto val="1"/>
        <c:lblAlgn val="ctr"/>
        <c:lblOffset val="100"/>
        <c:noMultiLvlLbl val="0"/>
      </c:catAx>
      <c:valAx>
        <c:axId val="48945826"/>
        <c:scaling>
          <c:orientation val="minMax"/>
        </c:scaling>
        <c:delete val="1"/>
        <c:axPos val="l"/>
        <c:numFmt formatCode="General" sourceLinked="1"/>
        <c:majorTickMark val="cross"/>
        <c:minorTickMark val="cross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0254881"/>
        <c:crossBetween val="between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diagrams/colors1.xml><?xml version="1.0" encoding="utf-8"?>
<dgm:dataModel xmlns:dgm="http://schemas.openxmlformats.org/drawingml/2006/diagram" xmlns:a="http://schemas.openxmlformats.org/drawingml/2006/main" xmlns:dsp="http://schemas.microsoft.com/office/drawing/2008/diagram">
  <dgm:ptLst/>
  <dgm:extLst>
    <a:ext uri="http://schemas.microsoft.com/office/drawing/2008/diagram">
      <dsp:dataModelExt relId="rId7" minVer="http://schemas.openxmlformats.org/drawingml/2006/diagram"/>
    </a:ext>
  </dgm:extLst>
</dgm:dataModel>
</file>

<file path=ppt/diagrams/data1.xml><?xml version="1.0" encoding="utf-8"?>
<dgm:dataModel xmlns:dgm="http://schemas.openxmlformats.org/drawingml/2006/diagram" xmlns:a="http://schemas.openxmlformats.org/drawingml/2006/main" xmlns:dsp="http://schemas.microsoft.com/office/drawing/2008/diagram">
  <dgm:ptLst/>
  <dgm:extLst>
    <a:ext uri="http://schemas.microsoft.com/office/drawing/2008/diagram">
      <dsp:dataModelExt relId="rId1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a="http://schemas.openxmlformats.org/drawingml/2006/main" xmlns:r="http://schemas.openxmlformats.org/officeDocument/2006/relationships">
  <dsp:spTree>
    <dsp:nvGrpSpPr>
      <dsp:cNvPr id="0" name=""/>
      <dsp:cNvGrpSpPr/>
    </dsp:nvGrpSpPr>
    <dsp:grpSpPr/>
    <dsp:sp modelId="{A}">
      <dsp:nvSpPr>
        <dsp:cNvPr id="0" name=""/>
        <dsp:cNvSpPr/>
      </dsp:nvSpPr>
      <dsp:spPr>
        <a:xfrm>
          <a:off x="0" y="0"/>
          <a:ext cx="1270000" cy="635000"/>
        </a:xfrm>
        <a:prstGeom prst="roundRect"/>
        <a:solidFill>
          <a:srgbClr val="4472C4"/>
        </a:solidFill>
      </dsp:spPr>
      <dsp:txBody>
        <a:bodyPr/>
        <a:p>
          <a:r>
            <a:t>Étape 1</a:t>
          </a:r>
        </a:p>
      </dsp:txBody>
    </dsp:sp>
    <dsp:sp modelId="{B}">
      <dsp:nvSpPr>
        <dsp:cNvPr id="0" name=""/>
        <dsp:cNvSpPr/>
      </dsp:nvSpPr>
      <dsp:spPr>
        <a:xfrm>
          <a:off x="1905000" y="0"/>
          <a:ext cx="1270000" cy="635000"/>
        </a:xfrm>
        <a:prstGeom prst="roundRect"/>
        <a:solidFill>
          <a:srgbClr val="4472C4"/>
        </a:solidFill>
      </dsp:spPr>
      <dsp:txBody>
        <a:bodyPr/>
        <a:p>
          <a:r>
            <a:t>Étape 2</a:t>
          </a:r>
        </a:p>
      </dsp:txBody>
    </dsp:sp>
  </dsp:spTree>
</dsp:drawing>
</file>

<file path=ppt/diagrams/layout1.xml><?xml version="1.0" encoding="utf-8"?>
<dgm:dataModel xmlns:dgm="http://schemas.openxmlformats.org/drawingml/2006/diagram" xmlns:a="http://schemas.openxmlformats.org/drawingml/2006/main" xmlns:dsp="http://schemas.microsoft.com/office/drawing/2008/diagram">
  <dgm:ptLst/>
  <dgm:extLst>
    <a:ext uri="http://schemas.microsoft.com/office/drawing/2008/diagram">
      <dsp:dataModelExt relId="rId7" minVer="http://schemas.openxmlformats.org/drawingml/2006/diagram"/>
    </a:ext>
  </dgm:extLst>
</dgm:dataModel>
</file>

<file path=ppt/diagrams/quickStyle1.xml><?xml version="1.0" encoding="utf-8"?>
<dgm:dataModel xmlns:dgm="http://schemas.openxmlformats.org/drawingml/2006/diagram" xmlns:a="http://schemas.openxmlformats.org/drawingml/2006/main" xmlns:dsp="http://schemas.microsoft.com/office/drawing/2008/diagram">
  <dgm:ptLst/>
  <dgm:extLst>
    <a:ext uri="http://schemas.microsoft.com/office/drawing/2008/diagram">
      <dsp:dataModelExt relId="rId7" minVer="http://schemas.openxmlformats.org/drawingml/2006/diagram"/>
    </a:ext>
  </dgm:extLst>
</dgm:dataModel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au"/>
          <p:cNvSpPr/>
          <p:nvPr/>
        </p:nvSpPr>
        <p:spPr>
          <a:xfrm>
            <a:off x="0" y="6603840"/>
            <a:ext cx="12191760" cy="253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ctr">
              <a:lnSpc>
                <a:spcPct val="100000"/>
              </a:lnSpc>
              <a:buNone/>
              <a:def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Titre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ndeau"/>
          <p:cNvSpPr/>
          <p:nvPr/>
        </p:nvSpPr>
        <p:spPr>
          <a:xfrm>
            <a:off x="0" y="6603840"/>
            <a:ext cx="12191760" cy="253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lnSpc>
                <a:spcPct val="100000"/>
              </a:lnSpc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Titre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microsoft.com/office/2007/relationships/diagramDrawing" Target="../diagrams/drawing1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openxmlformats.org/officeDocument/2006/relationships/image" Target="../media/image1.png"/><Relationship Id="rId7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Tableau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graphicFrame>
        <p:nvGraphicFramePr>
          <p:cNvPr id="8" name="Tableau 3"/>
          <p:cNvGraphicFramePr/>
          <p:nvPr/>
        </p:nvGraphicFramePr>
        <p:xfrm>
          <a:off x="838080" y="1825560"/>
          <a:ext cx="3809520" cy="1142640"/>
        </p:xfrm>
        <a:graphic>
          <a:graphicData uri="http://schemas.openxmlformats.org/drawingml/2006/table">
            <a:tbl>
              <a:tblPr/>
              <a:tblGrid>
                <a:gridCol w="1269720"/>
                <a:gridCol w="2539800"/>
              </a:tblGrid>
              <a:tr h="380880">
                <a:tc gridSpan="2"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Titre</a:t>
                      </a:r>
                      <a:endParaRPr lang="fr-F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fr-F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Graphique et image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graphicFrame>
        <p:nvGraphicFramePr>
          <p:cNvPr id="10" name="Graphique 3"/>
          <p:cNvGraphicFramePr/>
          <p:nvPr/>
        </p:nvGraphicFramePr>
        <p:xfrm>
          <a:off x="838080" y="1825560"/>
          <a:ext cx="6095520" cy="3428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11" name="Image 4" descr="Carré rouge"/>
          <p:cNvPicPr/>
          <p:nvPr/>
        </p:nvPicPr>
        <p:blipFill>
          <a:blip r:embed="rId2"/>
          <a:stretch/>
        </p:blipFill>
        <p:spPr>
          <a:xfrm>
            <a:off x="7315200" y="1825560"/>
            <a:ext cx="3047760" cy="3047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" name="Groupe 5"/>
          <p:cNvGrpSpPr/>
          <p:nvPr/>
        </p:nvGrpSpPr>
        <p:grpSpPr>
          <a:xfrm>
            <a:off x="838080" y="5486400"/>
            <a:ext cx="6095880" cy="507600"/>
            <a:chOff x="838080" y="5486400"/>
            <a:chExt cx="6095880" cy="507600"/>
          </a:xfrm>
        </p:grpSpPr>
        <p:sp>
          <p:nvSpPr>
            <p:cNvPr id="13" name="ZoneTexte 6"/>
            <p:cNvSpPr/>
            <p:nvPr/>
          </p:nvSpPr>
          <p:spPr>
            <a:xfrm>
              <a:off x="838080" y="5486400"/>
              <a:ext cx="3047760" cy="50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Gauche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ZoneTexte 7"/>
            <p:cNvSpPr/>
            <p:nvPr/>
          </p:nvSpPr>
          <p:spPr>
            <a:xfrm>
              <a:off x="3886200" y="5486400"/>
              <a:ext cx="3047760" cy="50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Droite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Processus et équation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graphicFrame>
        <p:nvGraphicFramePr>
          <p:cNvPr id="16" name="Diagram1"/>
          <p:cNvGraphicFramePr/>
          <p:nvPr>
            <p:extLst>
              <p:ext uri="{D42A27DB-BD31-4B8C-83A1-F6EECF244321}">
                <p14:modId xmlns:p14="http://schemas.microsoft.com/office/powerpoint/2010/main" val="4245786899"/>
              </p:ext>
            </p:extLst>
          </p:nvPr>
        </p:nvGraphicFramePr>
        <p:xfrm>
          <a:off x="1270080" y="1270080"/>
          <a:ext cx="3174480" cy="634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" name="Équation 4"/>
          <p:cNvSpPr/>
          <p:nvPr/>
        </p:nvSpPr>
        <p:spPr>
          <a:xfrm>
            <a:off x="1270080" y="3174840"/>
            <a:ext cx="2539800" cy="50760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Bureau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6350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rgbClr val="F2F2F2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LibreOffice/26.8.1.1$MacOSX_AARCH64 LibreOffice_project/bf6ef2662401c7d6dce671ab4deb26ee0af3a7c1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fr-FR</dc:language>
  <cp:lastModifiedBy/>
  <cp:revision>0</cp:revision>
  <dc:subject/>
  <dc:title/>
</cp:coreProperties>
</file>